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303" r:id="rId3"/>
    <p:sldId id="308" r:id="rId4"/>
    <p:sldId id="309" r:id="rId5"/>
    <p:sldId id="311" r:id="rId6"/>
    <p:sldId id="310" r:id="rId7"/>
    <p:sldId id="313" r:id="rId8"/>
    <p:sldId id="314" r:id="rId9"/>
    <p:sldId id="315" r:id="rId10"/>
    <p:sldId id="316" r:id="rId11"/>
    <p:sldId id="317" r:id="rId12"/>
    <p:sldId id="318" r:id="rId13"/>
    <p:sldId id="257" r:id="rId14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6388" autoAdjust="0"/>
  </p:normalViewPr>
  <p:slideViewPr>
    <p:cSldViewPr snapToGrid="0">
      <p:cViewPr varScale="1">
        <p:scale>
          <a:sx n="120" d="100"/>
          <a:sy n="120" d="100"/>
        </p:scale>
        <p:origin x="173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D1FDE9-84EF-4FCE-BA9F-BB15DECC4758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AC4CB6-2D7C-4600-A122-1F44D5CA134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698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67405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6E5652-174F-56E1-9411-8C0F7FF7B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28F0B3B-3BC5-2081-9636-2FDD28FDF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325BBD-FACB-8AC3-EA2A-1A6B5FF572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Сегодня мы делаем то, что в реальной командной разработке делают в первые день проекта - договариваемся о правилах ведения проекта. </a:t>
            </a:r>
          </a:p>
          <a:p>
            <a:r>
              <a:rPr lang="ru-RU" dirty="0"/>
              <a:t>Если команда не сделает это на старте то она все равно сделает это в будущем, но уже на конфликте: “почему у тебя это в одной папке?”, “почему у меня не запускается?” и т.п. </a:t>
            </a:r>
          </a:p>
          <a:p>
            <a:r>
              <a:rPr lang="ru-RU" dirty="0"/>
              <a:t>Наша задача — сделать так, чтобы качество проверяли инструменты, а не ваши друзья на ревью.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По своей сути вся дисциплина представляет для вас переход от ценности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Что сделал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к тому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Как сделал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DBB0205C-229A-E418-A2A9-251E857B9BB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686484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DE4F4-F1FF-49D9-59D7-884F215390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515AB1-E9BE-4C32-7ADD-EBA2C253FD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73C3856-03FE-5366-B83F-D06FC26CAA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AC5ACAD-39CE-D8CC-6D76-D5F3F8224DC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43375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498090-EC79-86E3-A103-47CF7ECA25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1A47EA25-3FD3-33A3-D3AB-E8C21C4D92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729CAC2B-4A1E-3797-F6A9-FBCC73B63A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Стандарт файловой структуры колеблется на уровне фреймворков, специфики решаемой задачи и даже отдельно взятых команд. </a:t>
            </a:r>
          </a:p>
          <a:p>
            <a:r>
              <a:rPr lang="ru-RU" dirty="0"/>
              <a:t>По сути для человека который имеет опыт продуктовой разработки важен не сам стандарт сколько факт его наличия. </a:t>
            </a:r>
          </a:p>
          <a:p>
            <a:endParaRPr lang="ru-RU" dirty="0"/>
          </a:p>
          <a:p>
            <a:r>
              <a:rPr lang="ru-RU" dirty="0"/>
              <a:t>Конкретно на данном слайде представлена минимальная реализация файловой структуры на основе паттерна 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CSR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 используемого при написании 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REST API</a:t>
            </a:r>
            <a:endParaRPr lang="ru-RU" b="0" dirty="0"/>
          </a:p>
          <a:p>
            <a:endParaRPr lang="ru-RU" dirty="0"/>
          </a:p>
          <a:p>
            <a:endParaRPr lang="en-US" dirty="0"/>
          </a:p>
          <a:p>
            <a:r>
              <a:rPr lang="ru-RU" dirty="0"/>
              <a:t>В будущем мы рассмотрим больше паттернов применяемых на разных уровнях информационной системы и решающие разного рода проблемы </a:t>
            </a:r>
          </a:p>
          <a:p>
            <a:endParaRPr lang="ru-RU" dirty="0"/>
          </a:p>
          <a:p>
            <a:endParaRPr lang="en-US" dirty="0"/>
          </a:p>
          <a:p>
            <a:r>
              <a:rPr lang="en-US" dirty="0"/>
              <a:t>- </a:t>
            </a:r>
            <a:r>
              <a:rPr lang="ru-RU" dirty="0"/>
              <a:t>Студент в праве сам решать на каком языке писать НО его </a:t>
            </a:r>
            <a:r>
              <a:rPr lang="en-US" dirty="0" err="1"/>
              <a:t>api</a:t>
            </a:r>
            <a:r>
              <a:rPr lang="en-US" dirty="0"/>
              <a:t> </a:t>
            </a:r>
            <a:r>
              <a:rPr lang="ru-RU" dirty="0"/>
              <a:t>обязано соответствовать паттерну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CSR</a:t>
            </a:r>
            <a:r>
              <a:rPr lang="en-US" dirty="0"/>
              <a:t> </a:t>
            </a:r>
            <a:r>
              <a:rPr lang="ru-RU" dirty="0"/>
              <a:t>а файловая структура обязана быть подробно описана в  </a:t>
            </a:r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README.md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097C6A-C8B8-9A42-5DA3-30D08F2CF1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3065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22028-2F12-69C2-9F8E-4B2045E6C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44B7AB9-42DD-FE8E-5E2C-A400032570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ECA96853-27FB-5750-A9E2-D874848CD8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Тут дела обстоят несколько интересней.  </a:t>
            </a:r>
          </a:p>
          <a:p>
            <a:r>
              <a:rPr lang="ru-RU" dirty="0"/>
              <a:t>Нет какого то явного лидера касательно структуры фронта и паттерна который бы все объяснил тоже не придумали но на практике часто встречается подход при котором папки разбиваются по типу примерно как на экране</a:t>
            </a:r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A971A39-5E7A-1D9B-1EF7-19D79E468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241537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AF911-4766-87BD-BC59-094EA5C8D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E1AABC6-5654-688F-BF07-C2EB2A3EA1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2D38C3A-815D-3991-C677-8051A6B6A4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Форматеры и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линтеры одни из самых простых но при этом полезных инструментов при работе в команде.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Форматеры подсвечивает потенциальные места ошибок и способствует избавлению от мусорного кода.</a:t>
            </a:r>
          </a:p>
          <a:p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Линтеры стандартизирует оформление кода на уровне проекта что облегчает код ревью и предостерегает от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“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мусорных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”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комитов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</a:t>
            </a:r>
            <a:r>
              <a:rPr lang="ru-RU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это актуально если разные члены команды сидят на разных 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 b </a:t>
            </a:r>
            <a:r>
              <a:rPr lang="ru-RU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тп</a:t>
            </a:r>
            <a:r>
              <a:rPr lang="en-US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C035DAA-8323-E2F1-3D91-525BD223B8D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670759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B417D7-6DCA-B190-A702-09110FA4AC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DABA4E4-61E6-3F43-AF26-6CAEA54D5F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C4B30E7-58EC-8F36-212C-EE26345B6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Pre-commit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 – это своего рода элемент автоматизации который снимает с разработчика часть рутины и страхует команду от 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я забыл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 и 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я не заметил</a:t>
            </a:r>
            <a:r>
              <a:rPr lang="en-US" sz="1200" b="0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По своей сути это обычный скрип.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0" dirty="0">
                <a:latin typeface="Verdana" panose="020B0604030504040204" pitchFamily="34" charset="0"/>
                <a:ea typeface="Verdana" panose="020B0604030504040204" pitchFamily="34" charset="0"/>
              </a:rPr>
              <a:t>Он может выполнять команды из многочисленных готовых репозиториев или вы можете написать что-то свое</a:t>
            </a:r>
          </a:p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DE0B95D-2F71-A9FD-F166-E001F12EEC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845059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D2220E-E6EA-5048-65EF-1965CC3896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699052E2-06A5-3098-46DD-492E8EA57B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43250D0-6306-58B4-78F0-5EC70E6111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Тут пожалуй стоит начать с того зачем нам вообще гит репозиторий. Да</a:t>
            </a:r>
            <a:r>
              <a:rPr lang="en-US" dirty="0"/>
              <a:t>,</a:t>
            </a:r>
            <a:r>
              <a:rPr lang="ru-RU" dirty="0"/>
              <a:t> вопрос в целом риторический но лучше его прояснить.</a:t>
            </a:r>
            <a:endParaRPr lang="en-US" dirty="0"/>
          </a:p>
          <a:p>
            <a:r>
              <a:rPr lang="ru-RU" dirty="0" err="1"/>
              <a:t>Git</a:t>
            </a:r>
            <a:r>
              <a:rPr lang="ru-RU" dirty="0"/>
              <a:t>-репозиторий нужен для хранения всех изменений в коде.</a:t>
            </a:r>
          </a:p>
          <a:p>
            <a:r>
              <a:rPr lang="ru-RU" dirty="0"/>
              <a:t>Это открывает перед разработчиком ряд возможностей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1. </a:t>
            </a:r>
            <a:r>
              <a:rPr lang="ru-RU" dirty="0"/>
              <a:t>работа в команде без неожиданных конфликтов в коде </a:t>
            </a:r>
          </a:p>
          <a:p>
            <a:r>
              <a:rPr lang="ru-RU" dirty="0"/>
              <a:t>2. Просмотр истории изменений и отката проекта</a:t>
            </a:r>
          </a:p>
          <a:p>
            <a:endParaRPr lang="ru-RU" dirty="0"/>
          </a:p>
          <a:p>
            <a:r>
              <a:rPr lang="ru-RU" dirty="0"/>
              <a:t>Так вот в данном контексте акцент стоит сделать на 2 пункте. Когда разработчики хотят посмотреть историю изменений</a:t>
            </a:r>
            <a:r>
              <a:rPr lang="en-US" dirty="0"/>
              <a:t>?</a:t>
            </a:r>
          </a:p>
          <a:p>
            <a:r>
              <a:rPr lang="ru-RU" dirty="0"/>
              <a:t>Сломалось то что раньше работало непойми из-за чего – это причина номер 1</a:t>
            </a:r>
          </a:p>
          <a:p>
            <a:endParaRPr lang="ru-RU" dirty="0"/>
          </a:p>
          <a:p>
            <a:r>
              <a:rPr lang="ru-RU" dirty="0"/>
              <a:t>И в такой ситуации мало иметь возможность просматривать предыдущие версии. Надо уметь в них быстро ориентироваться особенно если часть кода писали не вы. </a:t>
            </a:r>
          </a:p>
          <a:p>
            <a:r>
              <a:rPr lang="ru-RU" dirty="0"/>
              <a:t>Вот для решения этой проблемы и существует культура </a:t>
            </a:r>
            <a:r>
              <a:rPr lang="ru-RU" dirty="0" err="1"/>
              <a:t>комитов</a:t>
            </a:r>
            <a:r>
              <a:rPr lang="ru-RU" dirty="0"/>
              <a:t>.</a:t>
            </a:r>
          </a:p>
          <a:p>
            <a:r>
              <a:rPr lang="ru-RU" dirty="0"/>
              <a:t>К сожалению или к счастью не существует какого-то стандарта для написания </a:t>
            </a:r>
            <a:r>
              <a:rPr lang="ru-RU" dirty="0" err="1"/>
              <a:t>комитов</a:t>
            </a:r>
            <a:r>
              <a:rPr lang="ru-RU" dirty="0"/>
              <a:t>. </a:t>
            </a:r>
          </a:p>
          <a:p>
            <a:r>
              <a:rPr lang="ru-RU" dirty="0"/>
              <a:t> команда решает сама как это должно выглядеть но прослеживаются общие тенденции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5947FB1-EC4F-617B-17AB-0C72AFB661C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21617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906FF-FCF2-AF9B-0040-AFFEA72B8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BE617DA-2C6A-4904-E27C-9CAA7D344B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CADFA90B-5750-B29F-E4EE-EB6EACABC7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dirty="0"/>
              <a:t>Тут речь про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README.md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endParaRPr lang="en-US" dirty="0"/>
          </a:p>
          <a:p>
            <a:r>
              <a:rPr lang="ru-RU" dirty="0"/>
              <a:t>Пример подводного камня – используется старая какого-то пакета так как это единственная версия доступная для используемой комбинации библиотек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E2F523B-CB57-5E33-EF89-B9917A65374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3866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ECA1F-2052-9CE2-D5DD-2210553CE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FD7FE11-5C2E-67E7-B792-B767328E9D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D55EFAAA-8034-F769-BABE-0F3446D85B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7AAE948-1A96-C30C-4B50-1EF1CAAA040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74698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11F90A-2CAC-4C7E-4A69-35B5ED147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5C2B3037-7F5E-0418-B67B-C306B07A9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5D9FDD89-380E-9D80-14A8-4FBDA61726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3F258E6-6734-7DF9-EDD3-A99C1418E4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67958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92467-D8CD-0889-CAE3-C99B1E6F5C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C50F4CA-B1C1-0429-8CFF-55B9590472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C5EF3F0-22A5-CFBE-8F61-0F117DEDB5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этом вес на сегодня</a:t>
            </a:r>
          </a:p>
          <a:p>
            <a:endParaRPr lang="ru-RU" dirty="0"/>
          </a:p>
          <a:p>
            <a:endParaRPr lang="ru-RU" dirty="0"/>
          </a:p>
          <a:p>
            <a:r>
              <a:rPr lang="ru-RU" dirty="0"/>
              <a:t>И запомните девиз этой дисциплины </a:t>
            </a:r>
            <a:r>
              <a:rPr lang="en-US" dirty="0"/>
              <a:t>“</a:t>
            </a:r>
            <a:r>
              <a:rPr lang="ru-RU" dirty="0"/>
              <a:t>Хорошо настроенный и стандартизированный проект заставит вас писать хороший код даже если вы этого не хотите</a:t>
            </a:r>
            <a:r>
              <a:rPr lang="en-US" dirty="0"/>
              <a:t>”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4D93FA8B-35CE-7663-84A7-BAA74A5307D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B5A29FF-4F66-4515-8CB3-AE1172BD1E27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04987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0C7A0B-6E65-4E0C-6236-3FCD121713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476514A-0455-D298-C3DF-1A0C0DCF64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67C1700-2CFD-0AA3-4779-6199B25E1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73856E-7C20-29B8-3A4D-35C6AAF12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B23AA69-930C-2512-6615-7EC028D57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31057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7508D6-A8CF-21D3-1CFD-0376FD81A9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CB0F6D2-D307-B66F-680F-07B8ED10CE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FDB8405-0896-4719-9E89-C7746F867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F43B41-DFE6-5936-E041-A43473E0A8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5A36713-ADAC-AC61-BFE3-CABFB6104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5575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5B3545-847D-4924-477F-9A5D967F7F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D743389-5EA2-DDEB-590D-12DA9C765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01E8A92-053D-86EB-8723-2317C6DAE5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9CA1228-3D38-B9FB-E3E0-8C6EC952D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7B6DB79-8833-A418-FBF4-D48F9B5E2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46224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15F381-7D0D-C9B1-2B79-4A16DD431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C385262-DC8C-2D71-EB79-2B2221C7E7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8D0DBAC-DB2D-8E25-A466-F747893808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FB87809-9FE3-C76A-F53F-BB67E8CA6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2A9AF2-EC88-FF42-20AD-92B3AB530E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2B49E4-9248-CAF3-7ADC-489F17904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443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E52F20-C626-3044-571D-517A875C0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76EBAEB-C1B8-1E93-952B-5EE1301526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8A371327-EC9C-5B3B-36CA-D914998D2F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96A32A89-5107-6301-5802-8DB06C3DF2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412470C-6DE9-6B28-C7E9-F2BAC6B482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C5AF90E2-1B56-EAF7-B76E-3675CD1FB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228C98B-423F-6591-54FA-4BD86606EE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4EA51E49-5D76-42EC-51EE-C4636C528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71011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6100F6F-777E-8A80-7625-FFC32AC5C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4FF64524-76D0-EFF6-2A38-D100000DF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EB6AEEAD-8FC9-EB43-85AB-9B9D50E9A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630E3DA-6A5D-544D-5140-8760C1CCA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9168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58036C0-B174-122D-6884-3D6F3585F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C465572-825F-28E5-D813-2069F44E7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9CABE09-D0A6-AEB8-EB4B-169DA63F8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27986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EF437-1C56-8200-D8D3-C8CFEBDF9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849674-F5A2-785C-1D14-8411052FED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F380F1-70BF-2CC4-000D-9D8FD184E5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DC9562A-97DA-4509-B5B9-2C9B5F055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AB4B718-6E62-658E-C3B1-ADACE0472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49CA787-A3D0-2611-D448-9D690C42E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0565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58666F-FD77-201C-92B6-A97A15858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70032E4-5814-F265-0565-1D29A8CAF6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BBDDA28-D7DD-D849-BC8D-05F029535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D81A77-3CB9-6934-3447-160907680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F02A0EE-FEE4-8F5C-BC40-DE8BEFBD9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B01769C-3DC1-6260-6D28-1DBF5BD50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6846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410F06-4497-FD39-F34D-8693EB5AFD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5A5CCE01-62EF-41E2-1D18-2D70E58008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B02B32-0530-B5A5-3FA9-3B911CCC3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52E557-2DEA-47B7-C1DB-D3BC0CF3F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2B6FF68-C2AE-5055-5349-09B250BDE6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079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2E5178C-E68C-5E20-C6DC-BF618761E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07BC70-AEEB-3C90-4BB2-36B31AF7DD3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051BE36-68D5-4942-D6DD-2C99FD820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F410AE-086D-7BC8-4AD7-A7363D41E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485A164-64EC-8F43-77DE-E651A6195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8086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5CA635-2EC6-F9CA-3E01-A19E0E1D69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5B6D186-2F8A-4D00-2AE1-15EDE430F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7CA0A7-526D-B0BF-9C2C-C01F647F5B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6270B5-832A-4C9C-AC53-C7332DDD5EE9}" type="datetimeFigureOut">
              <a:rPr lang="ru-RU" smtClean="0"/>
              <a:t>15.02.2026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B7C28F7-1E8B-8543-6892-CC3A16EA7D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B62DADE-FC26-33FA-63C6-603C20EAA4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020AF5-D378-479D-8F21-447609B58A8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9113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45E5DC51-8EF9-42D1-A7D5-9B43A1D246CD}"/>
              </a:ext>
            </a:extLst>
          </p:cNvPr>
          <p:cNvSpPr txBox="1"/>
          <p:nvPr/>
        </p:nvSpPr>
        <p:spPr>
          <a:xfrm>
            <a:off x="0" y="57803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Министерство науки и образования РФ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«Заполярный государственный университет им. Н. М. Федоровского» 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Факультет электроэнергетики, экономики и управления 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Кафедра информационных систем и технологий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8B960E7-A533-4DD1-9547-0ADD34C41D96}"/>
              </a:ext>
            </a:extLst>
          </p:cNvPr>
          <p:cNvSpPr txBox="1"/>
          <p:nvPr/>
        </p:nvSpPr>
        <p:spPr>
          <a:xfrm>
            <a:off x="0" y="272111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800"/>
              </a:spcAft>
              <a:tabLst>
                <a:tab pos="3690620" algn="l"/>
              </a:tabLst>
            </a:pPr>
            <a:r>
              <a:rPr lang="ru-RU" sz="4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ТЕХНОЛОГИИ ПРОГРАММИРОВАНИЯ</a:t>
            </a:r>
            <a:endParaRPr lang="ru-RU" sz="40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655CEB6-2611-4FD0-66E0-EFEAAE9E17AE}"/>
              </a:ext>
            </a:extLst>
          </p:cNvPr>
          <p:cNvSpPr txBox="1"/>
          <p:nvPr/>
        </p:nvSpPr>
        <p:spPr>
          <a:xfrm>
            <a:off x="0" y="342900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tabLst>
                <a:tab pos="3690620" algn="l"/>
              </a:tabLst>
            </a:pPr>
            <a:r>
              <a:rPr lang="ru-RU" sz="3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Тема</a:t>
            </a:r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3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</a:t>
            </a:r>
            <a:r>
              <a:rPr lang="ru-RU" sz="3200" dirty="0"/>
              <a:t>Инженерный старт проекта</a:t>
            </a:r>
            <a:r>
              <a:rPr lang="en-US" sz="3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ru-RU" sz="32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68717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E86F66-C858-B485-CE54-D8859C9BAE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DA4E3D-B680-53A2-43DF-8C7F363D6E38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1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AA3FBE4-6CB8-B677-7586-06A5E3D41B4B}"/>
              </a:ext>
            </a:extLst>
          </p:cNvPr>
          <p:cNvSpPr txBox="1"/>
          <p:nvPr/>
        </p:nvSpPr>
        <p:spPr>
          <a:xfrm>
            <a:off x="404040" y="288630"/>
            <a:ext cx="1091066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Зачем нам “инженерный старт”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?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190EDC2-4A13-6B15-EF83-EC3B6B843907}"/>
              </a:ext>
            </a:extLst>
          </p:cNvPr>
          <p:cNvSpPr txBox="1"/>
          <p:nvPr/>
        </p:nvSpPr>
        <p:spPr>
          <a:xfrm>
            <a:off x="404041" y="1530359"/>
            <a:ext cx="9384015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проекте важен не только “код работает”, но и как его </a:t>
            </a:r>
            <a:r>
              <a:rPr lang="ru-RU" u="sng" dirty="0">
                <a:latin typeface="Verdana" panose="020B0604030504040204" pitchFamily="34" charset="0"/>
                <a:ea typeface="Verdana" panose="020B0604030504040204" pitchFamily="34" charset="0"/>
              </a:rPr>
              <a:t>менять без боли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Уходим от проблем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а у меня работает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Прикладываем часть рутины на инструменты</a:t>
            </a:r>
          </a:p>
        </p:txBody>
      </p:sp>
      <p:pic>
        <p:nvPicPr>
          <p:cNvPr id="1026" name="Picture 2" descr="Эволюция человека продолжается: найдено новое неопровержимое доказательство  - KP.RU">
            <a:extLst>
              <a:ext uri="{FF2B5EF4-FFF2-40B4-BE49-F238E27FC236}">
                <a16:creationId xmlns:a16="http://schemas.microsoft.com/office/drawing/2014/main" id="{30B5B7A8-ED35-7CD2-2D69-23D8319E1F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2" b="29987"/>
          <a:stretch>
            <a:fillRect/>
          </a:stretch>
        </p:blipFill>
        <p:spPr bwMode="auto">
          <a:xfrm>
            <a:off x="0" y="5557961"/>
            <a:ext cx="3688053" cy="130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0108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D9706-454D-F44A-4538-3AEE513A88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C645B08-A370-307B-C078-7EBBF26AE8F4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C0B7B85-F96F-2EA2-4703-8E92AF3D547C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Стандарт оформление и ведения репозиториев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DC87791-BAD8-0668-7E84-17467C63562D}"/>
              </a:ext>
            </a:extLst>
          </p:cNvPr>
          <p:cNvSpPr txBox="1"/>
          <p:nvPr/>
        </p:nvSpPr>
        <p:spPr>
          <a:xfrm>
            <a:off x="404041" y="1506505"/>
            <a:ext cx="11187551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API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 клиент раздельно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Обязательно наличие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README.md, .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gitignore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pre-commit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Использование форматеров и линтеров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Зафиксированная культура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комитов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533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D9ABDC-F112-5D31-912E-F0318BBC5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87645B4-B431-7F2E-785B-A5E7199DE3AA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4C89982-83CC-EEF8-7E9C-1368EAA40F48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Файловая структура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API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 и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REST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 паттерн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CSR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2D365F-7859-1043-B5C3-AC4A55EA3AA3}"/>
              </a:ext>
            </a:extLst>
          </p:cNvPr>
          <p:cNvSpPr txBox="1"/>
          <p:nvPr/>
        </p:nvSpPr>
        <p:spPr>
          <a:xfrm>
            <a:off x="7520458" y="1231919"/>
            <a:ext cx="323765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Файловая структура</a:t>
            </a:r>
          </a:p>
          <a:p>
            <a:pPr algn="ctr"/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app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user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controllers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└──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services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└── …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repositories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└──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└── …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.env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.</a:t>
            </a:r>
            <a:r>
              <a:rPr lang="en-US" dirty="0" err="1">
                <a:latin typeface="Consolas" panose="020B0609020204030204" pitchFamily="49" charset="0"/>
                <a:ea typeface="Verdana" panose="020B0604030504040204" pitchFamily="34" charset="0"/>
              </a:rPr>
              <a:t>gitignore</a:t>
            </a:r>
            <a:endParaRPr lang="en-US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└── README.md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3C0C62-8936-AB82-E9A5-9CDEF625B174}"/>
              </a:ext>
            </a:extLst>
          </p:cNvPr>
          <p:cNvSpPr txBox="1"/>
          <p:nvPr/>
        </p:nvSpPr>
        <p:spPr>
          <a:xfrm>
            <a:off x="1004515" y="1231919"/>
            <a:ext cx="429966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Контроллер-Сервис-Репозиторий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B5DA780-9461-DDD7-2BDB-9F207408F49B}"/>
              </a:ext>
            </a:extLst>
          </p:cNvPr>
          <p:cNvSpPr txBox="1"/>
          <p:nvPr/>
        </p:nvSpPr>
        <p:spPr>
          <a:xfrm>
            <a:off x="893998" y="1729770"/>
            <a:ext cx="441018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Контроллер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Controller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Управление REST-интерфейсом и вызов бизнес-логики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C57A1E1-9967-04E0-01B3-7A1F8946D8B2}"/>
              </a:ext>
            </a:extLst>
          </p:cNvPr>
          <p:cNvSpPr txBox="1"/>
          <p:nvPr/>
        </p:nvSpPr>
        <p:spPr>
          <a:xfrm>
            <a:off x="893998" y="3281337"/>
            <a:ext cx="4410184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Сервис (</a:t>
            </a:r>
            <a:r>
              <a:rPr lang="en-US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Service)</a:t>
            </a:r>
            <a:b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Реализация бизнес-логики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8B053A1-9F05-0D47-CEEC-6B86F39503BC}"/>
              </a:ext>
            </a:extLst>
          </p:cNvPr>
          <p:cNvSpPr txBox="1"/>
          <p:nvPr/>
        </p:nvSpPr>
        <p:spPr>
          <a:xfrm>
            <a:off x="893998" y="4555906"/>
            <a:ext cx="4410184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Репозиторий (</a:t>
            </a:r>
            <a:r>
              <a:rPr lang="ru-RU" b="0" i="0" dirty="0" err="1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Repository</a:t>
            </a:r>
            <a:r>
              <a:rPr lang="ru-RU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b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</a:br>
            <a:r>
              <a:rPr lang="ru-RU" b="0" i="0" dirty="0">
                <a:solidFill>
                  <a:srgbClr val="111111"/>
                </a:solidFill>
                <a:effectLst/>
                <a:latin typeface="Verdana" panose="020B0604030504040204" pitchFamily="34" charset="0"/>
                <a:ea typeface="Verdana" panose="020B0604030504040204" pitchFamily="34" charset="0"/>
              </a:rPr>
              <a:t>Хранение и доступ к данным (сущностям) в системе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204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D71EC-2865-F2C8-4FEC-4E991F9AB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A207AD-CCEA-48F2-93D2-84EA69C75BE3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4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3AA275C-069F-E75B-7B3F-04D5E144095D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Файловая структура фронтенд-приложения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2C994D4-E013-B36E-BAF4-3A4CE099D162}"/>
              </a:ext>
            </a:extLst>
          </p:cNvPr>
          <p:cNvSpPr txBox="1"/>
          <p:nvPr/>
        </p:nvSpPr>
        <p:spPr>
          <a:xfrm>
            <a:off x="1278684" y="1144455"/>
            <a:ext cx="323765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</a:t>
            </a:r>
            <a:r>
              <a:rPr lang="en-US" dirty="0" err="1">
                <a:latin typeface="Consolas" panose="020B0609020204030204" pitchFamily="49" charset="0"/>
                <a:ea typeface="Verdana" panose="020B0604030504040204" pitchFamily="34" charset="0"/>
              </a:rPr>
              <a:t>src</a:t>
            </a:r>
            <a:endParaRPr lang="en-US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assets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components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</a:t>
            </a:r>
            <a:r>
              <a:rPr lang="en-US" dirty="0" err="1">
                <a:latin typeface="Consolas" panose="020B0609020204030204" pitchFamily="49" charset="0"/>
                <a:ea typeface="Verdana" panose="020B0604030504040204" pitchFamily="34" charset="0"/>
              </a:rPr>
              <a:t>ui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elements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└──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hooks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├── requests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│   └──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constants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types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utils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├── pages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│   └── …</a:t>
            </a:r>
            <a:endParaRPr lang="ru-RU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.env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…</a:t>
            </a: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├── .</a:t>
            </a:r>
            <a:r>
              <a:rPr lang="en-US" dirty="0" err="1">
                <a:latin typeface="Consolas" panose="020B0609020204030204" pitchFamily="49" charset="0"/>
                <a:ea typeface="Verdana" panose="020B0604030504040204" pitchFamily="34" charset="0"/>
              </a:rPr>
              <a:t>gitignore</a:t>
            </a:r>
            <a:endParaRPr lang="en-US" dirty="0">
              <a:latin typeface="Consolas" panose="020B0609020204030204" pitchFamily="49" charset="0"/>
              <a:ea typeface="Verdana" panose="020B0604030504040204" pitchFamily="34" charset="0"/>
            </a:endParaRPr>
          </a:p>
          <a:p>
            <a:r>
              <a:rPr lang="en-US" dirty="0">
                <a:latin typeface="Consolas" panose="020B0609020204030204" pitchFamily="49" charset="0"/>
                <a:ea typeface="Verdana" panose="020B0604030504040204" pitchFamily="34" charset="0"/>
              </a:rPr>
              <a:t>└── README.md</a:t>
            </a:r>
          </a:p>
        </p:txBody>
      </p:sp>
    </p:spTree>
    <p:extLst>
      <p:ext uri="{BB962C8B-B14F-4D97-AF65-F5344CB8AC3E}">
        <p14:creationId xmlns:p14="http://schemas.microsoft.com/office/powerpoint/2010/main" val="3912629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B93F4C-1185-77A6-0758-FB3EFA0B60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A26A4D-64E0-658F-9500-AF14FBA913D4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5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364F6B-3945-6DFF-903C-31C355C4491F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Форматеры и линтеры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F6EB59-65B1-36DA-589C-A73ED0D8D6C2}"/>
              </a:ext>
            </a:extLst>
          </p:cNvPr>
          <p:cNvSpPr txBox="1"/>
          <p:nvPr/>
        </p:nvSpPr>
        <p:spPr>
          <a:xfrm>
            <a:off x="404041" y="1522408"/>
            <a:ext cx="938401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Formatter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делает код одинаковым (скобки, переносы, пробелы)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Linter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ловит проблемы и плохие практики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unused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, подозрительные места)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712550B-BA75-E55D-598C-6CBFDB110C3F}"/>
              </a:ext>
            </a:extLst>
          </p:cNvPr>
          <p:cNvSpPr txBox="1"/>
          <p:nvPr/>
        </p:nvSpPr>
        <p:spPr>
          <a:xfrm>
            <a:off x="404039" y="2999736"/>
            <a:ext cx="9384015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Конкретные инструменты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ruff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линтер +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форматтер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),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для смелых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mypy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типизация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JS/TS: prettier (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форматтер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), 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eslint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линтер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ECB311-35E7-D3E5-C9E4-A9006C26B99E}"/>
              </a:ext>
            </a:extLst>
          </p:cNvPr>
          <p:cNvSpPr txBox="1"/>
          <p:nvPr/>
        </p:nvSpPr>
        <p:spPr>
          <a:xfrm>
            <a:off x="404039" y="4649114"/>
            <a:ext cx="9384015" cy="211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Стандарты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Python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PEP 8 (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стиль кода),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PEP 257 (docstring’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js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en-US" dirty="0" err="1">
                <a:latin typeface="Verdana" panose="020B0604030504040204" pitchFamily="34" charset="0"/>
                <a:ea typeface="Verdana" panose="020B0604030504040204" pitchFamily="34" charset="0"/>
              </a:rPr>
              <a:t>ts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Go: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вшитый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/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С++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пу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пу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пу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7075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5BF6C-E2A5-289F-280A-FB0B3AA4A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3374CE-04B5-CEE6-AF85-1490104E0CD8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6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DDE0FCD-62E9-4FCD-6B63-A3A290EB1132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Pre-commit</a:t>
            </a:r>
            <a:endParaRPr lang="ru-RU" sz="2400" b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03F5B-BD8F-C512-955A-C3CD6920BA2A}"/>
              </a:ext>
            </a:extLst>
          </p:cNvPr>
          <p:cNvSpPr txBox="1"/>
          <p:nvPr/>
        </p:nvSpPr>
        <p:spPr>
          <a:xfrm>
            <a:off x="404041" y="1522408"/>
            <a:ext cx="9861092" cy="2944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Pre-commit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– это набор команд которые выполняются перед каждым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комитом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 его помощью можно поддерживать чистоту репозитория (писать в своем стиле а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комитеть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в общепринятом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очищать не используемы код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проверять файлы на валидность) и поддерживать работоспособность проекта (авто тесты)</a:t>
            </a:r>
          </a:p>
          <a:p>
            <a:pPr>
              <a:lnSpc>
                <a:spcPct val="150000"/>
              </a:lnSpc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2364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524F58-7E20-B56A-2433-3AE62F75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2DABC83-F0AC-6D33-7199-BAEE90FA45C9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7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30ED45C-4D4B-95E9-18B3-2C1A04F76640}"/>
              </a:ext>
            </a:extLst>
          </p:cNvPr>
          <p:cNvSpPr txBox="1"/>
          <p:nvPr/>
        </p:nvSpPr>
        <p:spPr>
          <a:xfrm>
            <a:off x="404041" y="288630"/>
            <a:ext cx="98610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Культура коммитов в </a:t>
            </a:r>
            <a:r>
              <a:rPr lang="en-US" sz="2400" b="1" dirty="0">
                <a:latin typeface="Verdana" panose="020B0604030504040204" pitchFamily="34" charset="0"/>
                <a:ea typeface="Verdana" panose="020B0604030504040204" pitchFamily="34" charset="0"/>
              </a:rPr>
              <a:t>Git-</a:t>
            </a:r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репозитории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82A8C7-4B08-7EFD-B1BD-65836F650230}"/>
              </a:ext>
            </a:extLst>
          </p:cNvPr>
          <p:cNvSpPr txBox="1"/>
          <p:nvPr/>
        </p:nvSpPr>
        <p:spPr>
          <a:xfrm>
            <a:off x="404041" y="1522408"/>
            <a:ext cx="9384015" cy="2113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Коммиты должны быть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атомарны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Примерная структура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 –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суть действия + где сделал + описание что именно сделал (при необходимости)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Для фичи – ветка. Для конкретных реализаций в рамках фичи –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02561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400D05-8D69-5D20-D8C9-4BB5846855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D0DD70-F0ED-D492-B451-CE22DCC970DE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8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2D6BB80-71F4-8DD5-A87B-BEDF64E62792}"/>
              </a:ext>
            </a:extLst>
          </p:cNvPr>
          <p:cNvSpPr txBox="1"/>
          <p:nvPr/>
        </p:nvSpPr>
        <p:spPr>
          <a:xfrm>
            <a:off x="404041" y="288630"/>
            <a:ext cx="11037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Ведение документации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617F05-7ADF-4FCB-0331-75A47610C59F}"/>
              </a:ext>
            </a:extLst>
          </p:cNvPr>
          <p:cNvSpPr txBox="1"/>
          <p:nvPr/>
        </p:nvSpPr>
        <p:spPr>
          <a:xfrm>
            <a:off x="404041" y="1522408"/>
            <a:ext cx="9384015" cy="25292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Инструкция по развертыванию и запуску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Описание структуры проекта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используемых контрактов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Описание используемых технологий и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подводных камней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3611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8FC43-7DFB-B8BB-6AF1-D4466F376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DFB9C45-BA93-5508-72BF-FB3C69AA3F63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9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EBE3CE-A303-5613-6463-F8367551CD8A}"/>
              </a:ext>
            </a:extLst>
          </p:cNvPr>
          <p:cNvSpPr txBox="1"/>
          <p:nvPr/>
        </p:nvSpPr>
        <p:spPr>
          <a:xfrm>
            <a:off x="404041" y="288630"/>
            <a:ext cx="11037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Требования по дисциплине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FB997D-1915-91F4-647C-A57440734050}"/>
              </a:ext>
            </a:extLst>
          </p:cNvPr>
          <p:cNvSpPr txBox="1"/>
          <p:nvPr/>
        </p:nvSpPr>
        <p:spPr>
          <a:xfrm>
            <a:off x="404041" y="1522408"/>
            <a:ext cx="9384015" cy="12827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Допуск к экзамену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Соответствие итогового проекта </a:t>
            </a:r>
            <a:r>
              <a:rPr lang="ru-RU">
                <a:latin typeface="Verdana" panose="020B0604030504040204" pitchFamily="34" charset="0"/>
                <a:ea typeface="Verdana" panose="020B0604030504040204" pitchFamily="34" charset="0"/>
              </a:rPr>
              <a:t>по стандартам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8461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F83479-08B1-8FEF-0667-FF597A16C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FB424BA-F430-F8ED-DA50-B6634F31999F}"/>
              </a:ext>
            </a:extLst>
          </p:cNvPr>
          <p:cNvSpPr txBox="1"/>
          <p:nvPr/>
        </p:nvSpPr>
        <p:spPr>
          <a:xfrm flipH="1">
            <a:off x="11591592" y="6256800"/>
            <a:ext cx="600408" cy="601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/>
              <a:t>10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5755BA1-185E-806B-357D-1EE25788F520}"/>
              </a:ext>
            </a:extLst>
          </p:cNvPr>
          <p:cNvSpPr txBox="1"/>
          <p:nvPr/>
        </p:nvSpPr>
        <p:spPr>
          <a:xfrm>
            <a:off x="404041" y="288630"/>
            <a:ext cx="110378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latin typeface="Verdana" panose="020B0604030504040204" pitchFamily="34" charset="0"/>
                <a:ea typeface="Verdana" panose="020B0604030504040204" pitchFamily="34" charset="0"/>
              </a:rPr>
              <a:t>Начальные требования к итоговому проекту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556087-1B09-A496-455D-27D6698A1356}"/>
              </a:ext>
            </a:extLst>
          </p:cNvPr>
          <p:cNvSpPr txBox="1"/>
          <p:nvPr/>
        </p:nvSpPr>
        <p:spPr>
          <a:xfrm>
            <a:off x="404041" y="1522408"/>
            <a:ext cx="9384015" cy="4606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Реализация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REST API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Наличие настроенных линтеров и форматеров (на клиенте и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API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README.md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с подробным описанием структуры проекта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настройка и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тп</a:t>
            </a:r>
            <a:endParaRPr lang="ru-RU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Оформление абсолютно всех файлов проекта должно быть стандартизировано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Наличие настроенного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pre-commit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.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не должен отправиться если есть большие файлы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есть маркеры не решенных конфликтов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содержимое файла не соответствует стандарту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в коде присутствуют не использованные импорты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 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переменные или мусорный код (допускается чтобы скрипт сам 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“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подчищал код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но не отправлял </a:t>
            </a:r>
            <a:r>
              <a:rPr lang="ru-RU" dirty="0" err="1">
                <a:latin typeface="Verdana" panose="020B0604030504040204" pitchFamily="34" charset="0"/>
                <a:ea typeface="Verdana" panose="020B0604030504040204" pitchFamily="34" charset="0"/>
              </a:rPr>
              <a:t>комит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без проверки разработчиком)</a:t>
            </a:r>
            <a:r>
              <a:rPr lang="en-US" dirty="0">
                <a:latin typeface="Verdana" panose="020B0604030504040204" pitchFamily="34" charset="0"/>
                <a:ea typeface="Verdana" panose="020B0604030504040204" pitchFamily="34" charset="0"/>
              </a:rPr>
              <a:t>,</a:t>
            </a:r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 названия файлов не соответствует стандарту</a:t>
            </a:r>
          </a:p>
        </p:txBody>
      </p:sp>
    </p:spTree>
    <p:extLst>
      <p:ext uri="{BB962C8B-B14F-4D97-AF65-F5344CB8AC3E}">
        <p14:creationId xmlns:p14="http://schemas.microsoft.com/office/powerpoint/2010/main" val="1492650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96C6F-4A64-CE48-D758-79C5BAE55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Box 20">
            <a:extLst>
              <a:ext uri="{FF2B5EF4-FFF2-40B4-BE49-F238E27FC236}">
                <a16:creationId xmlns:a16="http://schemas.microsoft.com/office/drawing/2014/main" id="{BBA6C9F2-846D-6E8A-8D9F-D2289B0E13DF}"/>
              </a:ext>
            </a:extLst>
          </p:cNvPr>
          <p:cNvSpPr txBox="1"/>
          <p:nvPr/>
        </p:nvSpPr>
        <p:spPr>
          <a:xfrm>
            <a:off x="0" y="57803"/>
            <a:ext cx="12192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Министерство науки и образования РФ</a:t>
            </a:r>
            <a:endParaRPr lang="en-US" dirty="0">
              <a:latin typeface="Verdana" panose="020B0604030504040204" pitchFamily="34" charset="0"/>
              <a:ea typeface="Verdana" panose="020B0604030504040204" pitchFamily="34" charset="0"/>
            </a:endParaRP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«Заполярный государственный университет им. Н. М. Федоровского» 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Факультет электроэнергетики, экономики и управления </a:t>
            </a:r>
          </a:p>
          <a:p>
            <a:pPr algn="ctr"/>
            <a:r>
              <a:rPr lang="ru-RU" dirty="0">
                <a:latin typeface="Verdana" panose="020B0604030504040204" pitchFamily="34" charset="0"/>
                <a:ea typeface="Verdana" panose="020B0604030504040204" pitchFamily="34" charset="0"/>
              </a:rPr>
              <a:t>Кафедра информационных систем и технологий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603314-48F5-F7CB-7291-B50108096A0F}"/>
              </a:ext>
            </a:extLst>
          </p:cNvPr>
          <p:cNvSpPr txBox="1"/>
          <p:nvPr/>
        </p:nvSpPr>
        <p:spPr>
          <a:xfrm>
            <a:off x="0" y="2721114"/>
            <a:ext cx="12192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algn="ctr">
              <a:spcAft>
                <a:spcPts val="800"/>
              </a:spcAft>
              <a:tabLst>
                <a:tab pos="3690620" algn="l"/>
              </a:tabLst>
            </a:pPr>
            <a:r>
              <a:rPr lang="ru-RU" sz="40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ТЕХНОЛОГИИ ПРОГРАММИРОВАНИЯ</a:t>
            </a:r>
            <a:endParaRPr lang="ru-RU" sz="4000" dirty="0">
              <a:effectLst/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AA87714-19CC-A107-1319-F9D45020B5AF}"/>
              </a:ext>
            </a:extLst>
          </p:cNvPr>
          <p:cNvSpPr txBox="1"/>
          <p:nvPr/>
        </p:nvSpPr>
        <p:spPr>
          <a:xfrm>
            <a:off x="0" y="3429000"/>
            <a:ext cx="1219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800"/>
              </a:spcAft>
              <a:tabLst>
                <a:tab pos="3690620" algn="l"/>
              </a:tabLst>
            </a:pPr>
            <a:r>
              <a:rPr lang="ru-RU" sz="3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Тема</a:t>
            </a:r>
            <a:r>
              <a:rPr lang="en-US" sz="3200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:</a:t>
            </a:r>
            <a:r>
              <a:rPr lang="en-US" sz="3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 “</a:t>
            </a:r>
            <a:r>
              <a:rPr lang="ru-RU" sz="3200" dirty="0"/>
              <a:t>Инженерный старт проекта</a:t>
            </a:r>
            <a:r>
              <a:rPr lang="en-US" sz="3200" i="1" dirty="0">
                <a:solidFill>
                  <a:srgbClr val="000000"/>
                </a:solidFill>
                <a:latin typeface="Verdana" panose="020B0604030504040204" pitchFamily="34" charset="0"/>
                <a:ea typeface="Verdana" panose="020B0604030504040204" pitchFamily="34" charset="0"/>
              </a:rPr>
              <a:t>”</a:t>
            </a:r>
            <a:endParaRPr lang="ru-RU" sz="32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28095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95C44BD-F24A-574A-7E53-1491BACBD1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2625" y="615950"/>
            <a:ext cx="933450" cy="914400"/>
          </a:xfrm>
          <a:prstGeom prst="rect">
            <a:avLst/>
          </a:prstGeom>
        </p:spPr>
      </p:pic>
      <p:pic>
        <p:nvPicPr>
          <p:cNvPr id="2" name="Picture 2" descr="Эволюция человека продолжается: найдено новое неопровержимое доказательство  - KP.RU">
            <a:extLst>
              <a:ext uri="{FF2B5EF4-FFF2-40B4-BE49-F238E27FC236}">
                <a16:creationId xmlns:a16="http://schemas.microsoft.com/office/drawing/2014/main" id="{45B14A2A-9555-309F-4540-BC6F5DAB93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042" b="29987"/>
          <a:stretch>
            <a:fillRect/>
          </a:stretch>
        </p:blipFill>
        <p:spPr bwMode="auto">
          <a:xfrm>
            <a:off x="0" y="5557961"/>
            <a:ext cx="3688053" cy="1300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633229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3155</TotalTime>
  <Words>1174</Words>
  <Application>Microsoft Office PowerPoint</Application>
  <PresentationFormat>Широкоэкранный</PresentationFormat>
  <Paragraphs>172</Paragraphs>
  <Slides>13</Slides>
  <Notes>12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Calibri Light</vt:lpstr>
      <vt:lpstr>Consolas</vt:lpstr>
      <vt:lpstr>Verdana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Xp 34</dc:creator>
  <cp:lastModifiedBy>Xp 34</cp:lastModifiedBy>
  <cp:revision>11</cp:revision>
  <dcterms:created xsi:type="dcterms:W3CDTF">2026-01-31T11:29:09Z</dcterms:created>
  <dcterms:modified xsi:type="dcterms:W3CDTF">2026-02-15T08:23:58Z</dcterms:modified>
</cp:coreProperties>
</file>